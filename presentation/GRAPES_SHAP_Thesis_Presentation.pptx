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46304" cy="50292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60">
                <a:solidFill>
                  <a:srgbClr val="9FC4C2"/>
                </a:solidFill>
                <a:latin typeface="Segoe UI"/>
              </a:rPr>
              <a:t>M.SC. / THESIS DEFENCE  ·  TRUSTWORTHY CLINICAL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 dirty="0">
                <a:solidFill>
                  <a:srgbClr val="FFFFFF"/>
                </a:solidFill>
                <a:latin typeface="Georgia"/>
              </a:rPr>
              <a:t>Making AI More Trustworthy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2700" b="0" i="0" dirty="0">
                <a:solidFill>
                  <a:srgbClr val="CFDDEA"/>
                </a:solidFill>
                <a:latin typeface="Georgia"/>
              </a:rPr>
              <a:t>Context Labelling &amp; Original-Source Tracking
for Clinical Question Answering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2926080" cy="45720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6110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1">
                <a:solidFill>
                  <a:srgbClr val="B9CCDB"/>
                </a:solidFill>
                <a:latin typeface="Segoe UI"/>
              </a:rPr>
              <a:t>A World-Model–Guided, Calibrated &amp; Interpretable Retrieval-Augmented Generation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2651760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GRAPES-SHAP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029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5047488"/>
            <a:ext cx="2743200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10.1 M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029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5047488"/>
            <a:ext cx="2743200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100,000 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64040" y="5047488"/>
            <a:ext cx="1783080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DeepSeek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Author Name</a:t>
            </a:r>
          </a:p>
          <a:p>
            <a:pPr algn="l"/>
            <a:r>
              <a:rPr sz="1200" b="0" i="0">
                <a:solidFill>
                  <a:srgbClr val="9CB1C4"/>
                </a:solidFill>
                <a:latin typeface="Segoe UI"/>
              </a:rPr>
              <a:t>Department / Institution  ·  Supervisor: [Name]  · 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2996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2E6E6A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6654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Motivation &amp;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4871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Why fluent LLMs are not yet trustworthy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202996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5B7B96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06654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Objectives &amp; Contributions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871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Six goals; two core trust mechanisms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0896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10896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6E5A74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25526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Approach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67588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Pipeline, world model, neural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10896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55080" y="310896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21868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9C5A33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25526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Data &amp; Preprocessing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7588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DDXPlus · MedMCQA · MedQA (100k)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9768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29768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40740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2E6E6A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44398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Training &amp;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8646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Convergence, calibration, generalisation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29768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55080" y="429768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440740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Georgia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44398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Results &amp;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8646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Head-to-head vs strong RAG baseline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48640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548640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559612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5F6B76"/>
                </a:solidFill>
                <a:latin typeface="Georgia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563270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Planning · Risk · Economics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60533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Engineering &amp; responsible-AI 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548640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55080" y="548640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11112" y="559612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B0892F"/>
                </a:solidFill>
                <a:latin typeface="Georgia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63270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60533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Findings, limits, next steps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Motivation &amp;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Why fluent clinical LLMs are not yet trustworthy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2E6E6A"/>
                </a:solidFill>
                <a:latin typeface="Segoe UI"/>
              </a:rPr>
              <a:t>SECTION 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The Trust Gap in Clinical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E6E6A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Fluency ≠ trustworthiness.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LLMs encode rich medical knowledge yet remain hard to deploy safely.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Hallucination.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Confident, well-formed claims unsupported by any source.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Opaque confidence.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 0.95-confidence answer and a borderline one look identical.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No provenance.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Clinicians cannot see which evidence actually drove the answer.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RAG helps, but is reactive.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Retrieve–concatenate–generate delegates all reasoning &amp; self-checking to one opaque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4937760" cy="4114800"/>
          </a:xfrm>
          <a:prstGeom prst="roundRect">
            <a:avLst>
              <a:gd name="adj" fmla="val 5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75120" y="1828800"/>
            <a:ext cx="4937760" cy="64008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193852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"/>
              </a:rPr>
              <a:t>Three properties canonical RAG lacks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69748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71576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Prospective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8152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latin typeface="Segoe UI"/>
              </a:rPr>
              <a:t>Simulate how a patient responds before committing to an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49039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3767327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Calibrated self-knowledge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133087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latin typeface="Segoe UI"/>
              </a:rPr>
              <a:t>Know what it does not know; expose honest uncertainty.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80060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481888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Provenance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518464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latin typeface="Segoe UI"/>
              </a:rPr>
              <a:t>State which documents were decisive — auditable, not decorative.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5B7B96"/>
                </a:solidFill>
                <a:latin typeface="Segoe UI"/>
              </a:rPr>
              <a:t>SECTION 01 ·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7B96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6112" y="2185415"/>
            <a:ext cx="566928" cy="566928"/>
          </a:xfrm>
          <a:prstGeom prst="ellipse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203703"/>
            <a:ext cx="5669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7568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Augment retrieval with a world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78024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action-conditioned latent dynamics for prospective, tree-of-thought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74519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11112" y="2185415"/>
            <a:ext cx="566928" cy="566928"/>
          </a:xfrm>
          <a:prstGeom prst="ellipse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2203703"/>
            <a:ext cx="5669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07568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Calibrated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78024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deep ensemble with epistemic / aleatoric decomposition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82696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3282696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96112" y="3593591"/>
            <a:ext cx="566928" cy="566928"/>
          </a:xfrm>
          <a:prstGeom prst="ellipse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611879"/>
            <a:ext cx="5669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483864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Original-source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886200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Shapley-value evidence attribution with explicit citations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282696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55080" y="3282696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611112" y="3593591"/>
            <a:ext cx="566928" cy="566928"/>
          </a:xfrm>
          <a:prstGeom prst="ellipse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3611879"/>
            <a:ext cx="5669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483864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Compact &amp; efficient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886200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~10 M parameters, &lt; 20 min training on one consumer GPU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90872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" y="4690872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6112" y="5001768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5020056"/>
            <a:ext cx="5669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892040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Rigorous trust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294376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calibration, generalisation, significance, controlled baseline comparison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690872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55080" y="4690872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611112" y="5001768"/>
            <a:ext cx="566928" cy="566928"/>
          </a:xfrm>
          <a:prstGeom prst="ellipse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11112" y="5020056"/>
            <a:ext cx="5669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892040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Honest scope &amp; limitations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5294376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explicit boundaries of validity for responsible interpretation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Approach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Two trust mechanisms realised in a 12-stage pipeline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Two Coupled Trust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49240" cy="868680"/>
          </a:xfrm>
          <a:prstGeom prst="roundRect">
            <a:avLst>
              <a:gd name="adj" fmla="val 4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①  Context Labelling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Attach a structured, machine-checkable record to every answer: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Retrieved evidence set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Causal knowledge-graph relations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Predicted diagnostic state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Calibrated uncertainty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5349240" cy="868680"/>
          </a:xfrm>
          <a:prstGeom prst="roundRect">
            <a:avLst>
              <a:gd name="adj" fmla="val 4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9339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②  Original-Source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9C5A33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Trace each claim back to the documents that supported it: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Shapley value per retrieved document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Quantifies marginal contribution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Explicit, auditable citations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Converts an opaque generator into an accountable assistant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End-to-End Inference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2239060"/>
            <a:ext cx="11018519" cy="3248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93924"/>
            <a:ext cx="10908792" cy="31388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Twelve-stage pipeline: retrieval → graph reasoning → world-model planning → uncertainty → explanation.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System Architecture (Lanes A–C)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9524" y="1728216"/>
            <a:ext cx="7069902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0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388" y="1783080"/>
            <a:ext cx="6960174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Retrieval &amp; grounding · causal world model (10.1M params) · decision &amp; explanation.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NEURAL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Detailed Neural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5060" y="1728216"/>
            <a:ext cx="667883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7_architecture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924" y="1783080"/>
            <a:ext cx="656910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Context labels enter left; Shapley source-tracking produces a calibrated, attributed answer.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Latent World Model — Dataflow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54826" y="1728216"/>
            <a:ext cx="8879299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05" y="1790895"/>
            <a:ext cx="8769571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Recurrent latent rollout z_{t+1}=f(z_t+Δz_t, a_t) enables action-conditioned planning.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Capability vs Existing RAG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1918" y="1728216"/>
            <a:ext cx="8085115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1_method_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82" y="1783080"/>
            <a:ext cx="7975387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Full / partial / no support across seven trust-relevant capabilities.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Data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100,000 samples · preprocessing · convergence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Datasets &amp;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74519"/>
          <a:ext cx="749808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Dataset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Samples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DDXPlus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Diagnosis trajectories (train/val/test)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80k / 10k / 10k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HuggingFace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MedMCQA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Retrieval corpus (evidence)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50,000 docs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HuggingFace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MedQA (USMLE)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Evaluation queries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1,000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HuggingFace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Integrated multi-source corpus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100,000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Open / free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66760" y="1874519"/>
            <a:ext cx="3200400" cy="4069080"/>
          </a:xfrm>
          <a:prstGeom prst="roundRect">
            <a:avLst>
              <a:gd name="adj" fmla="val 5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DDXPlus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4688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49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pathology classes (long-tailed)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455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223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normalised evidence codes (from 504)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82219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39.6 yr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mean patient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49884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19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median evidences per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17550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100%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records retained after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 i="0">
                <a:solidFill>
                  <a:srgbClr val="9C5A33"/>
                </a:solidFill>
                <a:latin typeface="Segoe UI"/>
              </a:rPr>
              <a:t>▸  </a:t>
            </a:r>
            <a:r>
              <a:rPr sz="1400" b="1" i="0">
                <a:solidFill>
                  <a:srgbClr val="1F3A5F"/>
                </a:solidFill>
                <a:latin typeface="Segoe UI"/>
              </a:rPr>
              <a:t>Zero-barrier. </a:t>
            </a:r>
            <a:r>
              <a:rPr sz="1400" b="0" i="0">
                <a:solidFill>
                  <a:srgbClr val="212933"/>
                </a:solidFill>
                <a:latin typeface="Segoe UI"/>
              </a:rPr>
              <a:t>All datasets are public, free, and auto-downloaded from HuggingFace — no credentials required.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 i="0">
                <a:solidFill>
                  <a:srgbClr val="9C5A33"/>
                </a:solidFill>
                <a:latin typeface="Segoe UI"/>
              </a:rPr>
              <a:t>▸  </a:t>
            </a:r>
            <a:r>
              <a:rPr sz="1400" b="1" i="0">
                <a:solidFill>
                  <a:srgbClr val="1F3A5F"/>
                </a:solidFill>
                <a:latin typeface="Segoe UI"/>
              </a:rPr>
              <a:t>Integration. </a:t>
            </a:r>
            <a:r>
              <a:rPr sz="1400" b="0" i="0">
                <a:solidFill>
                  <a:srgbClr val="212933"/>
                </a:solidFill>
                <a:latin typeface="Segoe UI"/>
              </a:rPr>
              <a:t>Heterogeneous sources joined into a single 64-dim observation + 5-dim outcome tensor format.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Exploratory Data Analysis (DDXPlus)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55" y="1728216"/>
            <a:ext cx="610244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3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119" y="1783080"/>
            <a:ext cx="599271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Age &amp; sex distributions, top-15 pathologies, evidences per patient.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Data Cleaning &amp; Code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906" y="1728216"/>
            <a:ext cx="10667138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4_data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70" y="1783080"/>
            <a:ext cx="1055741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Record funnel (100% retained) and 504→223 evidence-code normalisation.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932716"/>
            <a:ext cx="11018519" cy="386124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8_preproces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87580"/>
            <a:ext cx="10908792" cy="37515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Clean → transform → integrate → reduce to 64-dim obs + 5-dim outcomes.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Class Imbalance &amp; Target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257" y="1728216"/>
            <a:ext cx="10650436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5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21" y="1783080"/>
            <a:ext cx="10540708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49 long-tailed pathologies; true-pathology rank within the differential.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Model &amp; Training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74519"/>
          <a:ext cx="5212080" cy="3611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Architecture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Observation / action dim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64 / 50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Latent / hidden dim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256 / 512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Graph nodes / node dim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20 / 128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Transformer layers / heads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3 / 8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GRU layers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Ensemble members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Sequence length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80760" y="1874519"/>
          <a:ext cx="5440680" cy="3611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Training</a:t>
                      </a:r>
                    </a:p>
                  </a:txBody>
                  <a:tcPr marR="73152" marT="27432" marB="27432" anchor="ctr">
                    <a:solidFill>
                      <a:srgbClr val="2E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R="73152" marT="27432" marB="27432" anchor="ctr">
                    <a:solidFill>
                      <a:srgbClr val="2E6E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WM / predictor epochs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15 / 10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WM / predictor LR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2e-4 / 1e-3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Batch size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Optimiser / AMP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Adam / fp16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Top-k retrieval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SHAP permutations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Plan horizon / beam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4 / 8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632703"/>
            <a:ext cx="2398014" cy="440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10.13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36503"/>
            <a:ext cx="2361438" cy="30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Trainable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5566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006" y="5632703"/>
            <a:ext cx="2398014" cy="440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18.8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5294" y="6036503"/>
            <a:ext cx="2361438" cy="30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Training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3931" y="5632703"/>
            <a:ext cx="2398014" cy="440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RTX 4080S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20" y="6036503"/>
            <a:ext cx="2361438" cy="30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Single GPU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9417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0857" y="5632703"/>
            <a:ext cx="2398014" cy="440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9145" y="6036503"/>
            <a:ext cx="2361438" cy="30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2.6.0 + CUDA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Training Convergence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762352"/>
            <a:ext cx="11018519" cy="42019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3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7216"/>
            <a:ext cx="10908792" cy="40922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World-model total/reconstruction/reward losses and deep-ensemble Gaussian NLL.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Results &amp;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Calibration, generalisation &amp; a controlled baseline comparison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Key Results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8366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0.039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1518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World-model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5566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7006" y="188366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0.029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5294" y="261518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Calibration error (ECE)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3931" y="188366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0.80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2220" y="261518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1σ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9417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0857" y="188366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&lt; 0.002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145" y="261518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Train→test MAE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7530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0.70 → 0.97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30682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Clinical concept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5566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7006" y="357530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0.50 → 0.84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5294" y="430682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Answer completeness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2492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3931" y="357530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2.0 → 5.1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2220" y="430682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Evidence citations / answer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9417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50857" y="3575304"/>
            <a:ext cx="239801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9 /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5" y="4306824"/>
            <a:ext cx="2361438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Vignettes won vs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120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33095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Statistically significant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improvement over a strong hybrid-RAG baseline — Wilcoxon signed-rank p = 0.046, mean +0.27 (95% CI ±0.21) — while adding calibrated uncertainty and per-document source tracking the baseline cannot provide.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2E6E6A"/>
                </a:solidFill>
                <a:latin typeface="Segoe UI"/>
              </a:rPr>
              <a:t>SECTION 04 ·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Held-out 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E6E6A"/>
                </a:solidFill>
                <a:latin typeface="Segoe UI"/>
              </a:rPr>
              <a:t>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74519"/>
          <a:ext cx="640080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R="73152" marT="27432" marB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MAE (outcome regression)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0.039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lower better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0.075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lower better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1σ coverage (calibration)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0.80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≈ 0.68–0.95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Expected Calibration Error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0.029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&lt; 0.05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Diagnosis accuracy (top-k)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0.755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F1-macro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0.172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long-tail (49 cls)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△</a:t>
                      </a:r>
                    </a:p>
                  </a:txBody>
                  <a:tcPr marR="73152" marT="27432" marB="27432" anchor="ctr">
                    <a:solidFill>
                      <a:srgbClr val="EA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Mean |SHAP|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0.744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14616" y="2346147"/>
            <a:ext cx="4407408" cy="24400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7_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401011"/>
            <a:ext cx="4297680" cy="23302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5F6B76"/>
                </a:solidFill>
                <a:latin typeface="Segoe UI"/>
              </a:rPr>
              <a:t>Headline: 1σ coverage 0.80 with ECE 0.029 — the ensemble's uncertainty is trustworthy, not over-confident.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Reliability / Calibration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6688" y="1728216"/>
            <a:ext cx="4668143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4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552" y="1783080"/>
            <a:ext cx="4558415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5916168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Predicted uncertainty tracks empirical error — close to the perfect-calibration line.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Uncertainty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82843" y="1728216"/>
            <a:ext cx="4795833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5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707" y="1783080"/>
            <a:ext cx="4686105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5916168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Epistemic (model) vs aleatoric (data) uncertainty per case.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Latent Space (t-SNE)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7942" y="1728216"/>
            <a:ext cx="4965634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6_latent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06" y="1783080"/>
            <a:ext cx="4855906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68880" y="5916168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Evidence-Fusion-Encoder latents form clinically meaningful, pathology-aligned clusters.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Train vs Held-out Generalisation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636" y="1728216"/>
            <a:ext cx="10657678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9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00" y="1783080"/>
            <a:ext cx="1054795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World-model convergence and a train→test error gap below 0.002 MAE.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Proposed Framework vs Strongest RAG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1300" y="1728216"/>
            <a:ext cx="652635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2_method_quant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164" y="1783080"/>
            <a:ext cx="641662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Concept coverage, structure, evidence grounding and calibrated confidence over 10 vignettes.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PER-VIGNETTE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Per-Vignette Concept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679" y="1728216"/>
            <a:ext cx="8439592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9_per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3" y="1783080"/>
            <a:ext cx="8329864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Concept coverage per clinical scenario (P1–P10).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Statistical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7212" y="1728216"/>
            <a:ext cx="10694526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20_statis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76" y="1783080"/>
            <a:ext cx="10584798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Paired per-vignette scores and effect size (Wilcoxon p = 0.046, mean +0.27).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Planning · Risk ·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Engineering execution and responsible-AI considerations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Economic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0222" y="1728216"/>
            <a:ext cx="10648506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23_econo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86" y="1783080"/>
            <a:ext cx="10538778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Direct project cost and marginal cost per query vs an LLM-only cloud baseline.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Risk Assessment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9304" y="1728216"/>
            <a:ext cx="6630343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22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168" y="1783080"/>
            <a:ext cx="6520615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Likelihood × impact for six identified project risks with mitigations.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Project Management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700" y="1728216"/>
            <a:ext cx="1017755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21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64" y="1783080"/>
            <a:ext cx="1006782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Eighteen-week Gantt across literature, data, modelling, evaluation and writing.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Societal · Ethical · Environmental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3520440" cy="658368"/>
          </a:xfrm>
          <a:prstGeom prst="roundRect">
            <a:avLst>
              <a:gd name="adj" fmla="val 5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97510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Societal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43200"/>
            <a:ext cx="313639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Calibrated confidence + traceable sources reduce automation bias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Widens access to structured clinical reasoning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Human clinician remains the final decision-maker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43400" y="1874519"/>
            <a:ext cx="3520440" cy="658368"/>
          </a:xfrm>
          <a:prstGeom prst="roundRect">
            <a:avLst>
              <a:gd name="adj" fmla="val 5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97510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Ethical Safeguards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743200"/>
            <a:ext cx="313639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6E5A74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Only public, de-identified data (DDXPlus, MedMCQA, MedQA)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6E5A74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Decision-support, not autonomous diagnosis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6E5A74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Calibration + source tracking guard against confident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0" y="1874519"/>
            <a:ext cx="3520440" cy="658368"/>
          </a:xfrm>
          <a:prstGeom prst="roundRect">
            <a:avLst>
              <a:gd name="adj" fmla="val 5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197510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Environmental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743200"/>
            <a:ext cx="313639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Compact 10.1M-param core; &lt; 20 min training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Few milliseconds of local compute per query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Negligible footprint vs foundation-model training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Findings, contributions, limitations and next steps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08 ·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Contributions to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20824"/>
            <a:ext cx="457200" cy="457200"/>
          </a:xfrm>
          <a:prstGeom prst="ellipse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993391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Trust-oriented reframing of RAG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organised around context labelling and original-source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15768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2715768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2862072"/>
            <a:ext cx="457200" cy="457200"/>
          </a:xfrm>
          <a:prstGeom prst="ellipse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7121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34639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Compact world-model core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supervised reward shaping + beam-search planning adds prospective reasoning to retrieval.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57015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557015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71246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75887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Native calibrated uncertainty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explicit epistemic / aleatoric decomposition via a deep ensemble.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98264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4398264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4544568"/>
            <a:ext cx="457200" cy="457200"/>
          </a:xfrm>
          <a:prstGeom prst="ellipse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53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17136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Shapley source tracking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attributes answers to individual documents for auditability.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9512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239512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4400" y="5385816"/>
            <a:ext cx="457200" cy="457200"/>
          </a:xfrm>
          <a:prstGeom prst="ellipse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39495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358383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Honest, reproducible science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all code, configs &amp; figure scripts released; scope stated explicitly.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08 ·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751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Honest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Semi-synthetic dynamics.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trajectories reveal evidence sequentially; transitions near-deterministic.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Evidence-acquisition actions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rather than physical interventions.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Stochastic causal prior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rather than a curated ontology.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Low macro-F1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from fine-grained, imbalanced 49-class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751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Future Directions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Logged intervention data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(e.g. ICU records) for true treatment planning.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Curated ontology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(e.g. SNOMED-CT) to strengthen graph reasoning.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Class re-weighting / focal loss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to raise macro-F1 without hurting calibration.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Clinician-in-the-loop study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to test reduction of automation bias.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2011680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4241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 compact 10.1 M-parameter framework makes clinical QA more trustworthy via context labelling and original-source tracking.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Accurate (MAE 0.039), well-calibrated (ECE 0.029) and generalising (train→test gap &lt; 0.002 MAE).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Significantly better coverage, completeness and evidence grounding than a strong RAG baseline (p = 0.046).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Adds calibrated uncertainty and per-document attribution that the baseline cannot provide — at negligible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349240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21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4589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1">
                <a:solidFill>
                  <a:srgbClr val="FFFFFF"/>
                </a:solidFill>
                <a:latin typeface="Segoe UI"/>
              </a:rPr>
              <a:t>Graph-grounded retrieval + world-model planning + ensemble uncertainty ⇒ more accurate, better-grounded, and more trustworthy clinical recommendations.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46304" cy="50292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337560"/>
            <a:ext cx="2743200" cy="54864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5661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CFDDEA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52628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544568"/>
            <a:ext cx="3108960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GRAPES-SHAP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5262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4544568"/>
            <a:ext cx="2926080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Reproducible · 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452628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4544568"/>
            <a:ext cx="3291840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Trustworthy Clinical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B1C4"/>
                </a:solidFill>
                <a:latin typeface="Segoe UI"/>
              </a:rPr>
              <a:t>Author Name  ·  Department / Institution  ·  2026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2169</Words>
  <Application>Microsoft Office PowerPoint</Application>
  <PresentationFormat>Widescreen</PresentationFormat>
  <Paragraphs>400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T2520726</cp:lastModifiedBy>
  <cp:revision>2</cp:revision>
  <dcterms:created xsi:type="dcterms:W3CDTF">2013-01-27T09:14:16Z</dcterms:created>
  <dcterms:modified xsi:type="dcterms:W3CDTF">2026-06-10T06:19:23Z</dcterms:modified>
  <cp:category/>
</cp:coreProperties>
</file>